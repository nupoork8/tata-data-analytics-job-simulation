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8229600" cx="14630400"/>
  <p:notesSz cx="8229600" cy="14630400"/>
  <p:embeddedFontLst>
    <p:embeddedFont>
      <p:font typeface="Funnel Sans"/>
      <p:regular r:id="rId15"/>
      <p:bold r:id="rId16"/>
      <p:italic r:id="rId17"/>
      <p:boldItalic r:id="rId18"/>
    </p:embeddedFont>
    <p:embeddedFont>
      <p:font typeface="Funnel Dis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unnelDisplay-bold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FunnelSans-regular.fntdata"/><Relationship Id="rId14" Type="http://schemas.openxmlformats.org/officeDocument/2006/relationships/slide" Target="slides/slide10.xml"/><Relationship Id="rId17" Type="http://schemas.openxmlformats.org/officeDocument/2006/relationships/font" Target="fonts/FunnelSans-italic.fntdata"/><Relationship Id="rId16" Type="http://schemas.openxmlformats.org/officeDocument/2006/relationships/font" Target="fonts/FunnelSans-bold.fntdata"/><Relationship Id="rId5" Type="http://schemas.openxmlformats.org/officeDocument/2006/relationships/slide" Target="slides/slide1.xml"/><Relationship Id="rId19" Type="http://schemas.openxmlformats.org/officeDocument/2006/relationships/font" Target="fonts/FunnelDisplay-regular.fntdata"/><Relationship Id="rId6" Type="http://schemas.openxmlformats.org/officeDocument/2006/relationships/slide" Target="slides/slide2.xml"/><Relationship Id="rId18" Type="http://schemas.openxmlformats.org/officeDocument/2006/relationships/font" Target="fonts/FunnelSans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5" name="Google Shape;15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9" name="Google Shape;19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" name="Google Shape;23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7" name="Google Shape;27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1" name="Google Shape;3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5" name="Google Shape;35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39" name="Google Shape;39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3" name="Google Shape;43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7" name="Google Shape;47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5E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Relationship Id="rId4" Type="http://schemas.openxmlformats.org/officeDocument/2006/relationships/image" Target="../media/image22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4.png"/><Relationship Id="rId4" Type="http://schemas.openxmlformats.org/officeDocument/2006/relationships/hyperlink" Target="https://www.geldium.com/contact" TargetMode="External"/><Relationship Id="rId5" Type="http://schemas.openxmlformats.org/officeDocument/2006/relationships/image" Target="../media/image21.png"/><Relationship Id="rId6" Type="http://schemas.openxmlformats.org/officeDocument/2006/relationships/hyperlink" Target="https://www.geldium.com/ai-solutions" TargetMode="External"/><Relationship Id="rId7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56" name="Google Shape;5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837724" y="2113240"/>
            <a:ext cx="7468553" cy="2112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AI-Powered Collections: Transforming Delinquency Management at Geldium</a:t>
            </a:r>
            <a:endParaRPr b="0" i="0" sz="4400" u="none" cap="none" strike="noStrike"/>
          </a:p>
        </p:txBody>
      </p:sp>
      <p:sp>
        <p:nvSpPr>
          <p:cNvPr id="58" name="Google Shape;58;p13"/>
          <p:cNvSpPr/>
          <p:nvPr/>
        </p:nvSpPr>
        <p:spPr>
          <a:xfrm>
            <a:off x="837724" y="4584263"/>
            <a:ext cx="7468553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3371A5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3371A5"/>
                </a:solidFill>
                <a:latin typeface="Funnel Sans"/>
                <a:ea typeface="Funnel Sans"/>
                <a:cs typeface="Funnel Sans"/>
                <a:sym typeface="Funnel Sans"/>
              </a:rPr>
              <a:t>Harnessing advanced analytics and responsible AI to revolutionize our collections process, ensuring fairness, efficiency, and superior customer experiences.</a:t>
            </a: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This presentation outlines a strategic approach to proactive delinquency reduction.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/>
          <p:nvPr/>
        </p:nvSpPr>
        <p:spPr>
          <a:xfrm>
            <a:off x="837724" y="1067157"/>
            <a:ext cx="3064312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EXECUTIVE OVERVIEW</a:t>
            </a:r>
            <a:endParaRPr b="0" i="0" sz="2200" u="none" cap="none" strike="noStrike"/>
          </a:p>
        </p:txBody>
      </p:sp>
      <p:sp>
        <p:nvSpPr>
          <p:cNvPr id="65" name="Google Shape;65;p14"/>
          <p:cNvSpPr/>
          <p:nvPr/>
        </p:nvSpPr>
        <p:spPr>
          <a:xfrm>
            <a:off x="837724" y="1514832"/>
            <a:ext cx="11416308" cy="7040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 New Era of Proactive and Fair Collections</a:t>
            </a:r>
            <a:endParaRPr b="0" i="0" sz="4400" u="none" cap="none" strike="noStrike"/>
          </a:p>
        </p:txBody>
      </p:sp>
      <p:sp>
        <p:nvSpPr>
          <p:cNvPr id="66" name="Google Shape;66;p14"/>
          <p:cNvSpPr/>
          <p:nvPr/>
        </p:nvSpPr>
        <p:spPr>
          <a:xfrm>
            <a:off x="837724" y="2577822"/>
            <a:ext cx="12954952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Geldium's AI-powered collections system is designed to redefine how we manage credit delinquency. By integrating sophisticated predictive models, we aim to:</a:t>
            </a:r>
            <a:endParaRPr b="0" i="0" sz="1850" u="none" cap="none" strike="noStrike"/>
          </a:p>
        </p:txBody>
      </p:sp>
      <p:sp>
        <p:nvSpPr>
          <p:cNvPr id="67" name="Google Shape;67;p14"/>
          <p:cNvSpPr/>
          <p:nvPr/>
        </p:nvSpPr>
        <p:spPr>
          <a:xfrm>
            <a:off x="837724" y="3996095"/>
            <a:ext cx="4158734" cy="3166229"/>
          </a:xfrm>
          <a:prstGeom prst="roundRect">
            <a:avLst>
              <a:gd fmla="val 3175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1084659" y="4243030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9" name="Google Shape;6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2065" y="4440436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/>
          <p:nvPr/>
        </p:nvSpPr>
        <p:spPr>
          <a:xfrm>
            <a:off x="1084659" y="5200412"/>
            <a:ext cx="3528298" cy="422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650"/>
              <a:buFont typeface="Funnel Display"/>
              <a:buNone/>
            </a:pPr>
            <a:r>
              <a:rPr b="0" i="0" lang="en-US" sz="2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Proactive Intervention</a:t>
            </a:r>
            <a:endParaRPr b="0" i="0" sz="2650" u="none" cap="none" strike="noStrike"/>
          </a:p>
        </p:txBody>
      </p:sp>
      <p:sp>
        <p:nvSpPr>
          <p:cNvPr id="71" name="Google Shape;71;p14"/>
          <p:cNvSpPr/>
          <p:nvPr/>
        </p:nvSpPr>
        <p:spPr>
          <a:xfrm>
            <a:off x="1084659" y="5766316"/>
            <a:ext cx="366486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Identify and engage at-risk customers before issues escalate.</a:t>
            </a:r>
            <a:endParaRPr b="0" i="0" sz="1850" u="none" cap="none" strike="noStrike"/>
          </a:p>
        </p:txBody>
      </p:sp>
      <p:sp>
        <p:nvSpPr>
          <p:cNvPr id="72" name="Google Shape;72;p14"/>
          <p:cNvSpPr/>
          <p:nvPr/>
        </p:nvSpPr>
        <p:spPr>
          <a:xfrm>
            <a:off x="5235773" y="3996095"/>
            <a:ext cx="4158734" cy="3166229"/>
          </a:xfrm>
          <a:prstGeom prst="roundRect">
            <a:avLst>
              <a:gd fmla="val 3175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5482709" y="4243030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80115" y="4440436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/>
          <p:nvPr/>
        </p:nvSpPr>
        <p:spPr>
          <a:xfrm>
            <a:off x="5482709" y="5200412"/>
            <a:ext cx="3379470" cy="422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650"/>
              <a:buFont typeface="Funnel Display"/>
              <a:buNone/>
            </a:pPr>
            <a:r>
              <a:rPr b="0" i="0" lang="en-US" sz="2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Enhanced Fairness</a:t>
            </a:r>
            <a:endParaRPr b="0" i="0" sz="2650" u="none" cap="none" strike="noStrike"/>
          </a:p>
        </p:txBody>
      </p:sp>
      <p:sp>
        <p:nvSpPr>
          <p:cNvPr id="76" name="Google Shape;76;p14"/>
          <p:cNvSpPr/>
          <p:nvPr/>
        </p:nvSpPr>
        <p:spPr>
          <a:xfrm>
            <a:off x="5482709" y="5766316"/>
            <a:ext cx="366486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Ensure consistent and equitable treatment for all customers.</a:t>
            </a:r>
            <a:endParaRPr b="0" i="0" sz="1850" u="none" cap="none" strike="noStrike"/>
          </a:p>
        </p:txBody>
      </p:sp>
      <p:sp>
        <p:nvSpPr>
          <p:cNvPr id="77" name="Google Shape;77;p14"/>
          <p:cNvSpPr/>
          <p:nvPr/>
        </p:nvSpPr>
        <p:spPr>
          <a:xfrm>
            <a:off x="9633823" y="3996095"/>
            <a:ext cx="4158853" cy="3166229"/>
          </a:xfrm>
          <a:prstGeom prst="roundRect">
            <a:avLst>
              <a:gd fmla="val 3175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9880759" y="4243030"/>
            <a:ext cx="718066" cy="718066"/>
          </a:xfrm>
          <a:prstGeom prst="roundRect">
            <a:avLst>
              <a:gd fmla="val 12732932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9" name="Google Shape;7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78164" y="4440436"/>
            <a:ext cx="323136" cy="323136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/>
          <p:nvPr/>
        </p:nvSpPr>
        <p:spPr>
          <a:xfrm>
            <a:off x="9880759" y="5200412"/>
            <a:ext cx="3572232" cy="4223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650"/>
              <a:buFont typeface="Funnel Display"/>
              <a:buNone/>
            </a:pPr>
            <a:r>
              <a:rPr b="0" i="0" lang="en-US" sz="26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Operational Scalability</a:t>
            </a:r>
            <a:endParaRPr b="0" i="0" sz="2650" u="none" cap="none" strike="noStrike"/>
          </a:p>
        </p:txBody>
      </p:sp>
      <p:sp>
        <p:nvSpPr>
          <p:cNvPr id="81" name="Google Shape;81;p14"/>
          <p:cNvSpPr/>
          <p:nvPr/>
        </p:nvSpPr>
        <p:spPr>
          <a:xfrm>
            <a:off x="9880759" y="5766316"/>
            <a:ext cx="3664982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Automate routine tasks, freeing up human agents for complex cases.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87" name="Google Shape;8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053114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/>
          <p:nvPr/>
        </p:nvSpPr>
        <p:spPr>
          <a:xfrm>
            <a:off x="2426256" y="2633186"/>
            <a:ext cx="2269212" cy="2414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500"/>
              <a:buFont typeface="Funnel Display"/>
              <a:buNone/>
            </a:pPr>
            <a:r>
              <a:rPr b="0" i="0" lang="en-US" sz="15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SYSTEM ARCHITECTURE</a:t>
            </a:r>
            <a:endParaRPr b="0" i="0" sz="1500" u="none" cap="none" strike="noStrike"/>
          </a:p>
        </p:txBody>
      </p:sp>
      <p:sp>
        <p:nvSpPr>
          <p:cNvPr id="89" name="Google Shape;89;p15"/>
          <p:cNvSpPr/>
          <p:nvPr/>
        </p:nvSpPr>
        <p:spPr>
          <a:xfrm>
            <a:off x="2426256" y="2940248"/>
            <a:ext cx="8484513" cy="4830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666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000"/>
              <a:buFont typeface="Funnel Display"/>
              <a:buNone/>
            </a:pPr>
            <a:r>
              <a:rPr b="0" i="0" lang="en-US" sz="30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How Geldium's AI Collections System Operates</a:t>
            </a:r>
            <a:endParaRPr b="0" i="0" sz="3000" u="none" cap="none" strike="noStrike"/>
          </a:p>
        </p:txBody>
      </p:sp>
      <p:sp>
        <p:nvSpPr>
          <p:cNvPr id="90" name="Google Shape;90;p15"/>
          <p:cNvSpPr/>
          <p:nvPr/>
        </p:nvSpPr>
        <p:spPr>
          <a:xfrm>
            <a:off x="2426256" y="3669625"/>
            <a:ext cx="9777770" cy="52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250"/>
              <a:buFont typeface="Funnel Sans"/>
              <a:buNone/>
            </a:pPr>
            <a:r>
              <a:rPr b="0" i="0" lang="en-US" sz="12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Our system integrates customer data with advanced predictive analytics in a continuous feedback loop, ensuring dynamic adaptation and improvement.</a:t>
            </a:r>
            <a:endParaRPr b="0" i="0" sz="1250" u="none" cap="none" strike="noStrike"/>
          </a:p>
        </p:txBody>
      </p:sp>
      <p:sp>
        <p:nvSpPr>
          <p:cNvPr id="91" name="Google Shape;91;p15"/>
          <p:cNvSpPr/>
          <p:nvPr/>
        </p:nvSpPr>
        <p:spPr>
          <a:xfrm>
            <a:off x="2426256" y="4380071"/>
            <a:ext cx="164187" cy="205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250"/>
              <a:buFont typeface="Funnel Display"/>
              <a:buNone/>
            </a:pPr>
            <a:r>
              <a:rPr b="0" i="0" lang="en-US" sz="12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01</a:t>
            </a:r>
            <a:endParaRPr b="0" i="0" sz="1250" u="none" cap="none" strike="noStrike"/>
          </a:p>
        </p:txBody>
      </p:sp>
      <p:sp>
        <p:nvSpPr>
          <p:cNvPr id="92" name="Google Shape;92;p15"/>
          <p:cNvSpPr/>
          <p:nvPr/>
        </p:nvSpPr>
        <p:spPr>
          <a:xfrm>
            <a:off x="2426256" y="4636175"/>
            <a:ext cx="4806791" cy="22860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2426256" y="4763929"/>
            <a:ext cx="2318742" cy="289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Display"/>
              <a:buNone/>
            </a:pPr>
            <a:r>
              <a:rPr b="0" i="0" lang="en-US" sz="1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1. Data Ingestion</a:t>
            </a:r>
            <a:endParaRPr b="0" i="0" sz="1800" u="none" cap="none" strike="noStrike"/>
          </a:p>
        </p:txBody>
      </p:sp>
      <p:sp>
        <p:nvSpPr>
          <p:cNvPr id="94" name="Google Shape;94;p15"/>
          <p:cNvSpPr/>
          <p:nvPr/>
        </p:nvSpPr>
        <p:spPr>
          <a:xfrm>
            <a:off x="2426256" y="5152311"/>
            <a:ext cx="4806791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250"/>
              <a:buFont typeface="Funnel Sans"/>
              <a:buNone/>
            </a:pPr>
            <a:r>
              <a:rPr b="0" i="0" lang="en-US" sz="12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Comprehensive collection of customer financial and behavioral data: credit utilization, payment history, income, and credit scores.</a:t>
            </a:r>
            <a:endParaRPr b="0" i="0" sz="1250" u="none" cap="none" strike="noStrike"/>
          </a:p>
        </p:txBody>
      </p:sp>
      <p:sp>
        <p:nvSpPr>
          <p:cNvPr id="95" name="Google Shape;95;p15"/>
          <p:cNvSpPr/>
          <p:nvPr/>
        </p:nvSpPr>
        <p:spPr>
          <a:xfrm>
            <a:off x="7397234" y="4380071"/>
            <a:ext cx="164187" cy="205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250"/>
              <a:buFont typeface="Funnel Display"/>
              <a:buNone/>
            </a:pPr>
            <a:r>
              <a:rPr b="0" i="0" lang="en-US" sz="12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02</a:t>
            </a:r>
            <a:endParaRPr b="0" i="0" sz="1250" u="none" cap="none" strike="noStrike"/>
          </a:p>
        </p:txBody>
      </p:sp>
      <p:sp>
        <p:nvSpPr>
          <p:cNvPr id="96" name="Google Shape;96;p15"/>
          <p:cNvSpPr/>
          <p:nvPr/>
        </p:nvSpPr>
        <p:spPr>
          <a:xfrm>
            <a:off x="7397234" y="4636175"/>
            <a:ext cx="4806791" cy="22860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7397234" y="4763929"/>
            <a:ext cx="2318742" cy="289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Display"/>
              <a:buNone/>
            </a:pPr>
            <a:r>
              <a:rPr b="0" i="0" lang="en-US" sz="1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2. Predictive Analysis</a:t>
            </a:r>
            <a:endParaRPr b="0" i="0" sz="1800" u="none" cap="none" strike="noStrike"/>
          </a:p>
        </p:txBody>
      </p:sp>
      <p:sp>
        <p:nvSpPr>
          <p:cNvPr id="98" name="Google Shape;98;p15"/>
          <p:cNvSpPr/>
          <p:nvPr/>
        </p:nvSpPr>
        <p:spPr>
          <a:xfrm>
            <a:off x="7397234" y="5152311"/>
            <a:ext cx="4806791" cy="52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250"/>
              <a:buFont typeface="Funnel Sans"/>
              <a:buNone/>
            </a:pPr>
            <a:r>
              <a:rPr b="0" i="0" lang="en-US" sz="12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 logistic regression model assigns individual delinquency risk scores, segmenting customers into various risk tiers.</a:t>
            </a:r>
            <a:endParaRPr b="0" i="0" sz="1250" u="none" cap="none" strike="noStrike"/>
          </a:p>
        </p:txBody>
      </p:sp>
      <p:sp>
        <p:nvSpPr>
          <p:cNvPr id="99" name="Google Shape;99;p15"/>
          <p:cNvSpPr/>
          <p:nvPr/>
        </p:nvSpPr>
        <p:spPr>
          <a:xfrm>
            <a:off x="2426256" y="6228278"/>
            <a:ext cx="164187" cy="205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250"/>
              <a:buFont typeface="Funnel Display"/>
              <a:buNone/>
            </a:pPr>
            <a:r>
              <a:rPr b="0" i="0" lang="en-US" sz="12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03</a:t>
            </a:r>
            <a:endParaRPr b="0" i="0" sz="1250" u="none" cap="none" strike="noStrike"/>
          </a:p>
        </p:txBody>
      </p:sp>
      <p:sp>
        <p:nvSpPr>
          <p:cNvPr id="100" name="Google Shape;100;p15"/>
          <p:cNvSpPr/>
          <p:nvPr/>
        </p:nvSpPr>
        <p:spPr>
          <a:xfrm>
            <a:off x="2426256" y="6484382"/>
            <a:ext cx="4806791" cy="22860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2426256" y="6612136"/>
            <a:ext cx="2318742" cy="289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Display"/>
              <a:buNone/>
            </a:pPr>
            <a:r>
              <a:rPr b="0" i="0" lang="en-US" sz="1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3. Intelligent Actions</a:t>
            </a:r>
            <a:endParaRPr b="0" i="0" sz="1800" u="none" cap="none" strike="noStrike"/>
          </a:p>
        </p:txBody>
      </p:sp>
      <p:sp>
        <p:nvSpPr>
          <p:cNvPr id="102" name="Google Shape;102;p15"/>
          <p:cNvSpPr/>
          <p:nvPr/>
        </p:nvSpPr>
        <p:spPr>
          <a:xfrm>
            <a:off x="2426256" y="7000518"/>
            <a:ext cx="4806791" cy="52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250"/>
              <a:buFont typeface="Funnel Sans"/>
              <a:buNone/>
            </a:pPr>
            <a:r>
              <a:rPr b="0" i="0" lang="en-US" sz="12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Automated, personalized interventions: early reminders, flexible payment plans, or prioritized routing for human agent review.</a:t>
            </a:r>
            <a:endParaRPr b="0" i="0" sz="1250" u="none" cap="none" strike="noStrike"/>
          </a:p>
        </p:txBody>
      </p:sp>
      <p:sp>
        <p:nvSpPr>
          <p:cNvPr id="103" name="Google Shape;103;p15"/>
          <p:cNvSpPr/>
          <p:nvPr/>
        </p:nvSpPr>
        <p:spPr>
          <a:xfrm>
            <a:off x="7397234" y="6228278"/>
            <a:ext cx="164187" cy="205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250"/>
              <a:buFont typeface="Funnel Display"/>
              <a:buNone/>
            </a:pPr>
            <a:r>
              <a:rPr b="0" i="0" lang="en-US" sz="125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04</a:t>
            </a:r>
            <a:endParaRPr b="0" i="0" sz="1250" u="none" cap="none" strike="noStrike"/>
          </a:p>
        </p:txBody>
      </p:sp>
      <p:sp>
        <p:nvSpPr>
          <p:cNvPr id="104" name="Google Shape;104;p15"/>
          <p:cNvSpPr/>
          <p:nvPr/>
        </p:nvSpPr>
        <p:spPr>
          <a:xfrm>
            <a:off x="7397234" y="6484382"/>
            <a:ext cx="4806791" cy="22860"/>
          </a:xfrm>
          <a:prstGeom prst="rect">
            <a:avLst/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7397234" y="6612136"/>
            <a:ext cx="3143488" cy="2899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00"/>
              <a:buFont typeface="Funnel Display"/>
              <a:buNone/>
            </a:pPr>
            <a:r>
              <a:rPr b="0" i="0" lang="en-US" sz="18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4. Continuous Learning Loop</a:t>
            </a:r>
            <a:endParaRPr b="0" i="0" sz="1800" u="none" cap="none" strike="noStrike"/>
          </a:p>
        </p:txBody>
      </p:sp>
      <p:sp>
        <p:nvSpPr>
          <p:cNvPr id="106" name="Google Shape;106;p15"/>
          <p:cNvSpPr/>
          <p:nvPr/>
        </p:nvSpPr>
        <p:spPr>
          <a:xfrm>
            <a:off x="7397234" y="7000518"/>
            <a:ext cx="4806791" cy="525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250"/>
              <a:buFont typeface="Funnel Sans"/>
              <a:buNone/>
            </a:pPr>
            <a:r>
              <a:rPr b="0" i="0" lang="en-US" sz="12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Outcomes and customer responses are fed back into the model, refining its accuracy and effectiveness over time.</a:t>
            </a:r>
            <a:endParaRPr b="0" i="0" sz="1250" u="none" cap="none" strike="noStrike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/>
          <p:nvPr/>
        </p:nvSpPr>
        <p:spPr>
          <a:xfrm>
            <a:off x="5988725" y="1809155"/>
            <a:ext cx="1688783" cy="2109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300"/>
              <a:buFont typeface="Funnel Display"/>
              <a:buNone/>
            </a:pPr>
            <a:r>
              <a:rPr b="0" i="0" lang="en-US" sz="13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KEY COMPONENTS</a:t>
            </a:r>
            <a:endParaRPr b="0" i="0" sz="1300" u="none" cap="none" strike="noStrike"/>
          </a:p>
        </p:txBody>
      </p:sp>
      <p:sp>
        <p:nvSpPr>
          <p:cNvPr id="114" name="Google Shape;114;p16"/>
          <p:cNvSpPr/>
          <p:nvPr/>
        </p:nvSpPr>
        <p:spPr>
          <a:xfrm>
            <a:off x="5988725" y="2077522"/>
            <a:ext cx="8139351" cy="8443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650"/>
              <a:buFont typeface="Funnel Display"/>
              <a:buNone/>
            </a:pPr>
            <a:r>
              <a:rPr b="0" i="0" lang="en-US" sz="26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Agentic AI: Balancing Automation with Human Expertise</a:t>
            </a:r>
            <a:endParaRPr b="0" i="0" sz="2650" u="none" cap="none" strike="noStrike"/>
          </a:p>
        </p:txBody>
      </p:sp>
      <p:sp>
        <p:nvSpPr>
          <p:cNvPr id="115" name="Google Shape;115;p16"/>
          <p:cNvSpPr/>
          <p:nvPr/>
        </p:nvSpPr>
        <p:spPr>
          <a:xfrm>
            <a:off x="5988725" y="3137178"/>
            <a:ext cx="8139351" cy="45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00"/>
              <a:buFont typeface="Funnel Sans"/>
              <a:buNone/>
            </a:pPr>
            <a:r>
              <a:rPr b="0" i="0" lang="en-US" sz="11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Our system leverages AI for efficiency while retaining critical human oversight, ensuring a responsible and effective collections process.</a:t>
            </a:r>
            <a:endParaRPr b="0" i="0" sz="1100" u="none" cap="none" strike="noStrike"/>
          </a:p>
        </p:txBody>
      </p:sp>
      <p:sp>
        <p:nvSpPr>
          <p:cNvPr id="116" name="Google Shape;116;p16"/>
          <p:cNvSpPr/>
          <p:nvPr/>
        </p:nvSpPr>
        <p:spPr>
          <a:xfrm>
            <a:off x="5988725" y="3901440"/>
            <a:ext cx="3060025" cy="337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100"/>
              <a:buFont typeface="Funnel Display"/>
              <a:buNone/>
            </a:pPr>
            <a:r>
              <a:rPr b="0" i="0" lang="en-US" sz="21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Autonomous (AI-Driven)</a:t>
            </a:r>
            <a:endParaRPr b="0" i="0" sz="2100" u="none" cap="none" strike="noStrike"/>
          </a:p>
        </p:txBody>
      </p:sp>
      <p:sp>
        <p:nvSpPr>
          <p:cNvPr id="117" name="Google Shape;117;p16"/>
          <p:cNvSpPr/>
          <p:nvPr/>
        </p:nvSpPr>
        <p:spPr>
          <a:xfrm>
            <a:off x="5988725" y="4382572"/>
            <a:ext cx="3894653" cy="45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00"/>
              <a:buFont typeface="Funnel Sans"/>
              <a:buNone/>
            </a:pPr>
            <a:r>
              <a:rPr b="1" i="0" lang="en-US" sz="11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Risk Scoring &amp; Segmentation:</a:t>
            </a:r>
            <a:r>
              <a:rPr b="0" i="0" lang="en-US" sz="11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Instantly categorizes customers by delinquency risk.</a:t>
            </a:r>
            <a:endParaRPr b="0" i="0" sz="1100" u="none" cap="none" strike="noStrike"/>
          </a:p>
        </p:txBody>
      </p:sp>
      <p:sp>
        <p:nvSpPr>
          <p:cNvPr id="118" name="Google Shape;118;p16"/>
          <p:cNvSpPr/>
          <p:nvPr/>
        </p:nvSpPr>
        <p:spPr>
          <a:xfrm>
            <a:off x="5988725" y="4892040"/>
            <a:ext cx="3894653" cy="45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00"/>
              <a:buFont typeface="Funnel Sans"/>
              <a:buNone/>
            </a:pPr>
            <a:r>
              <a:rPr b="1" i="0" lang="en-US" sz="11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Early-Stage Reminders &amp; Nudges:</a:t>
            </a:r>
            <a:r>
              <a:rPr b="0" i="0" lang="en-US" sz="11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Automated, personalized communications to prevent late payments.</a:t>
            </a:r>
            <a:endParaRPr b="0" i="0" sz="1100" u="none" cap="none" strike="noStrike"/>
          </a:p>
        </p:txBody>
      </p:sp>
      <p:sp>
        <p:nvSpPr>
          <p:cNvPr id="119" name="Google Shape;119;p16"/>
          <p:cNvSpPr/>
          <p:nvPr/>
        </p:nvSpPr>
        <p:spPr>
          <a:xfrm>
            <a:off x="5988725" y="5401508"/>
            <a:ext cx="3894653" cy="45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00"/>
              <a:buFont typeface="Funnel Sans"/>
              <a:buNone/>
            </a:pPr>
            <a:r>
              <a:rPr b="1" i="0" lang="en-US" sz="11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Repayment Behavior Monitoring:</a:t>
            </a:r>
            <a:r>
              <a:rPr b="0" i="0" lang="en-US" sz="11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Real-time tracking to adapt strategies dynamically.</a:t>
            </a:r>
            <a:endParaRPr b="0" i="0" sz="1100" u="none" cap="none" strike="noStrike"/>
          </a:p>
        </p:txBody>
      </p:sp>
      <p:sp>
        <p:nvSpPr>
          <p:cNvPr id="120" name="Google Shape;120;p16"/>
          <p:cNvSpPr/>
          <p:nvPr/>
        </p:nvSpPr>
        <p:spPr>
          <a:xfrm>
            <a:off x="5988725" y="5910977"/>
            <a:ext cx="3894653" cy="45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00"/>
              <a:buFont typeface="Funnel Sans"/>
              <a:buNone/>
            </a:pPr>
            <a:r>
              <a:rPr b="1" i="0" lang="en-US" sz="11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Proactive Offers:</a:t>
            </a:r>
            <a:r>
              <a:rPr b="0" i="0" lang="en-US" sz="11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Suggesting payment solutions tailored to individual customer profiles.</a:t>
            </a:r>
            <a:endParaRPr b="0" i="0" sz="1100" u="none" cap="none" strike="noStrike"/>
          </a:p>
        </p:txBody>
      </p:sp>
      <p:sp>
        <p:nvSpPr>
          <p:cNvPr id="121" name="Google Shape;121;p16"/>
          <p:cNvSpPr/>
          <p:nvPr/>
        </p:nvSpPr>
        <p:spPr>
          <a:xfrm>
            <a:off x="10241042" y="3901440"/>
            <a:ext cx="2702004" cy="3376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100"/>
              <a:buFont typeface="Funnel Display"/>
              <a:buNone/>
            </a:pPr>
            <a:r>
              <a:rPr b="0" i="0" lang="en-US" sz="21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Human-in-the-Loop</a:t>
            </a:r>
            <a:endParaRPr b="0" i="0" sz="2100" u="none" cap="none" strike="noStrike"/>
          </a:p>
        </p:txBody>
      </p:sp>
      <p:sp>
        <p:nvSpPr>
          <p:cNvPr id="122" name="Google Shape;122;p16"/>
          <p:cNvSpPr/>
          <p:nvPr/>
        </p:nvSpPr>
        <p:spPr>
          <a:xfrm>
            <a:off x="10241042" y="4382572"/>
            <a:ext cx="3894653" cy="45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00"/>
              <a:buFont typeface="Funnel Sans"/>
              <a:buNone/>
            </a:pPr>
            <a:r>
              <a:rPr b="1" i="0" lang="en-US" sz="11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High-Risk Decisions:</a:t>
            </a:r>
            <a:r>
              <a:rPr b="0" i="0" lang="en-US" sz="11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Final determination for complex or sensitive accounts.</a:t>
            </a:r>
            <a:endParaRPr b="0" i="0" sz="1100" u="none" cap="none" strike="noStrike"/>
          </a:p>
        </p:txBody>
      </p:sp>
      <p:sp>
        <p:nvSpPr>
          <p:cNvPr id="123" name="Google Shape;123;p16"/>
          <p:cNvSpPr/>
          <p:nvPr/>
        </p:nvSpPr>
        <p:spPr>
          <a:xfrm>
            <a:off x="10241042" y="4892040"/>
            <a:ext cx="3894653" cy="45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00"/>
              <a:buFont typeface="Funnel Sans"/>
              <a:buNone/>
            </a:pPr>
            <a:r>
              <a:rPr b="1" i="0" lang="en-US" sz="11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Dispute Handling &amp; Exceptions:</a:t>
            </a:r>
            <a:r>
              <a:rPr b="0" i="0" lang="en-US" sz="11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Resolving unique customer situations and irregularities.</a:t>
            </a:r>
            <a:endParaRPr b="0" i="0" sz="1100" u="none" cap="none" strike="noStrike"/>
          </a:p>
        </p:txBody>
      </p:sp>
      <p:sp>
        <p:nvSpPr>
          <p:cNvPr id="124" name="Google Shape;124;p16"/>
          <p:cNvSpPr/>
          <p:nvPr/>
        </p:nvSpPr>
        <p:spPr>
          <a:xfrm>
            <a:off x="10241042" y="5401508"/>
            <a:ext cx="3894653" cy="45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00"/>
              <a:buFont typeface="Funnel Sans"/>
              <a:buNone/>
            </a:pPr>
            <a:r>
              <a:rPr b="1" i="0" lang="en-US" sz="11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Policy Review &amp; Fairness Audits:</a:t>
            </a:r>
            <a:r>
              <a:rPr b="0" i="0" lang="en-US" sz="11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Ensuring compliance and ethical application of AI.</a:t>
            </a:r>
            <a:endParaRPr b="0" i="0" sz="1100" u="none" cap="none" strike="noStrike"/>
          </a:p>
        </p:txBody>
      </p:sp>
      <p:sp>
        <p:nvSpPr>
          <p:cNvPr id="125" name="Google Shape;125;p16"/>
          <p:cNvSpPr/>
          <p:nvPr/>
        </p:nvSpPr>
        <p:spPr>
          <a:xfrm>
            <a:off x="10241042" y="5910977"/>
            <a:ext cx="3894653" cy="4593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00"/>
              <a:buFont typeface="Funnel Sans"/>
              <a:buNone/>
            </a:pPr>
            <a:r>
              <a:rPr b="1" i="0" lang="en-US" sz="11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Complex Negotiations:</a:t>
            </a:r>
            <a:r>
              <a:rPr b="0" i="0" lang="en-US" sz="11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Custom solutions for challenging financial circumstances.</a:t>
            </a:r>
            <a:endParaRPr b="0" i="0" sz="1100" u="none" cap="none" strike="noStrike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/>
          <p:nvPr/>
        </p:nvSpPr>
        <p:spPr>
          <a:xfrm>
            <a:off x="5998131" y="1098232"/>
            <a:ext cx="1879759" cy="2150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222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350"/>
              <a:buFont typeface="Funnel Display"/>
              <a:buNone/>
            </a:pPr>
            <a:r>
              <a:rPr b="0" i="0" lang="en-US" sz="13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ETHICAL FRAMEWORK</a:t>
            </a:r>
            <a:endParaRPr b="0" i="0" sz="1350" u="none" cap="none" strike="noStrike"/>
          </a:p>
        </p:txBody>
      </p:sp>
      <p:sp>
        <p:nvSpPr>
          <p:cNvPr id="133" name="Google Shape;133;p17"/>
          <p:cNvSpPr/>
          <p:nvPr/>
        </p:nvSpPr>
        <p:spPr>
          <a:xfrm>
            <a:off x="5998131" y="1371719"/>
            <a:ext cx="8120539" cy="860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74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700"/>
              <a:buFont typeface="Funnel Display"/>
              <a:buNone/>
            </a:pPr>
            <a:r>
              <a:rPr b="0" i="0" lang="en-US" sz="27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Responsible AI Guardrails: Ensuring Trust and Compliance</a:t>
            </a:r>
            <a:endParaRPr b="0" i="0" sz="2700" u="none" cap="none" strike="noStrike"/>
          </a:p>
        </p:txBody>
      </p:sp>
      <p:sp>
        <p:nvSpPr>
          <p:cNvPr id="134" name="Google Shape;134;p17"/>
          <p:cNvSpPr/>
          <p:nvPr/>
        </p:nvSpPr>
        <p:spPr>
          <a:xfrm>
            <a:off x="5998131" y="2451140"/>
            <a:ext cx="8120539" cy="467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521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50"/>
              <a:buFont typeface="Funnel Sans"/>
              <a:buNone/>
            </a:pPr>
            <a:r>
              <a:rPr b="0" i="0" lang="en-US" sz="11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Our commitment to responsible AI is embedded in every aspect of the system, protecting both our customers and our reputation.</a:t>
            </a:r>
            <a:endParaRPr b="0" i="0" sz="1150" u="none" cap="none" strike="noStrike"/>
          </a:p>
        </p:txBody>
      </p:sp>
      <p:sp>
        <p:nvSpPr>
          <p:cNvPr id="135" name="Google Shape;135;p17"/>
          <p:cNvSpPr/>
          <p:nvPr/>
        </p:nvSpPr>
        <p:spPr>
          <a:xfrm>
            <a:off x="5998131" y="3083243"/>
            <a:ext cx="8120539" cy="902375"/>
          </a:xfrm>
          <a:prstGeom prst="roundRect">
            <a:avLst>
              <a:gd fmla="val 8107" name="adj"/>
            </a:avLst>
          </a:prstGeom>
          <a:solidFill>
            <a:srgbClr val="FAF5EB"/>
          </a:solidFill>
          <a:ln cap="flat" cmpd="sng" w="152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/>
          <p:nvPr/>
        </p:nvSpPr>
        <p:spPr>
          <a:xfrm>
            <a:off x="5982891" y="3083243"/>
            <a:ext cx="60960" cy="902375"/>
          </a:xfrm>
          <a:prstGeom prst="roundRect">
            <a:avLst>
              <a:gd fmla="val 100748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6205299" y="3244691"/>
            <a:ext cx="2064306" cy="258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00"/>
              <a:buFont typeface="Funnel Display"/>
              <a:buNone/>
            </a:pPr>
            <a:r>
              <a:rPr b="0" i="0" lang="en-US" sz="16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Fairness Monitoring</a:t>
            </a:r>
            <a:endParaRPr b="0" i="0" sz="1600" u="none" cap="none" strike="noStrike"/>
          </a:p>
        </p:txBody>
      </p:sp>
      <p:sp>
        <p:nvSpPr>
          <p:cNvPr id="138" name="Google Shape;138;p17"/>
          <p:cNvSpPr/>
          <p:nvPr/>
        </p:nvSpPr>
        <p:spPr>
          <a:xfrm>
            <a:off x="6205299" y="3590330"/>
            <a:ext cx="7751921" cy="233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521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50"/>
              <a:buFont typeface="Funnel Sans"/>
              <a:buNone/>
            </a:pPr>
            <a:r>
              <a:rPr b="0" i="0" lang="en-US" sz="11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Rigorous monitoring to prevent bias across income levels, demographics, and other segments.</a:t>
            </a:r>
            <a:endParaRPr b="0" i="0" sz="1150" u="none" cap="none" strike="noStrike"/>
          </a:p>
        </p:txBody>
      </p:sp>
      <p:sp>
        <p:nvSpPr>
          <p:cNvPr id="139" name="Google Shape;139;p17"/>
          <p:cNvSpPr/>
          <p:nvPr/>
        </p:nvSpPr>
        <p:spPr>
          <a:xfrm>
            <a:off x="5998131" y="4131826"/>
            <a:ext cx="8120539" cy="902375"/>
          </a:xfrm>
          <a:prstGeom prst="roundRect">
            <a:avLst>
              <a:gd fmla="val 8107" name="adj"/>
            </a:avLst>
          </a:prstGeom>
          <a:solidFill>
            <a:srgbClr val="FAF5EB"/>
          </a:solidFill>
          <a:ln cap="flat" cmpd="sng" w="152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5982891" y="4131826"/>
            <a:ext cx="60960" cy="902375"/>
          </a:xfrm>
          <a:prstGeom prst="roundRect">
            <a:avLst>
              <a:gd fmla="val 100748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7"/>
          <p:cNvSpPr/>
          <p:nvPr/>
        </p:nvSpPr>
        <p:spPr>
          <a:xfrm>
            <a:off x="6205299" y="4293275"/>
            <a:ext cx="2320647" cy="258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00"/>
              <a:buFont typeface="Funnel Display"/>
              <a:buNone/>
            </a:pPr>
            <a:r>
              <a:rPr b="0" i="0" lang="en-US" sz="16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Explainable Risk Drivers</a:t>
            </a:r>
            <a:endParaRPr b="0" i="0" sz="1600" u="none" cap="none" strike="noStrike"/>
          </a:p>
        </p:txBody>
      </p:sp>
      <p:sp>
        <p:nvSpPr>
          <p:cNvPr id="142" name="Google Shape;142;p17"/>
          <p:cNvSpPr/>
          <p:nvPr/>
        </p:nvSpPr>
        <p:spPr>
          <a:xfrm>
            <a:off x="6205299" y="4638913"/>
            <a:ext cx="7751921" cy="233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521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50"/>
              <a:buFont typeface="Funnel Sans"/>
              <a:buNone/>
            </a:pPr>
            <a:r>
              <a:rPr b="0" i="0" lang="en-US" sz="11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Transparency in AI decisions, providing clear, understandable reasons for every action and recommendation.</a:t>
            </a:r>
            <a:endParaRPr b="0" i="0" sz="1150" u="none" cap="none" strike="noStrike"/>
          </a:p>
        </p:txBody>
      </p:sp>
      <p:sp>
        <p:nvSpPr>
          <p:cNvPr id="143" name="Google Shape;143;p17"/>
          <p:cNvSpPr/>
          <p:nvPr/>
        </p:nvSpPr>
        <p:spPr>
          <a:xfrm>
            <a:off x="5998131" y="5180409"/>
            <a:ext cx="8120539" cy="902375"/>
          </a:xfrm>
          <a:prstGeom prst="roundRect">
            <a:avLst>
              <a:gd fmla="val 8107" name="adj"/>
            </a:avLst>
          </a:prstGeom>
          <a:solidFill>
            <a:srgbClr val="FAF5EB"/>
          </a:solidFill>
          <a:ln cap="flat" cmpd="sng" w="152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7"/>
          <p:cNvSpPr/>
          <p:nvPr/>
        </p:nvSpPr>
        <p:spPr>
          <a:xfrm>
            <a:off x="5982891" y="5180409"/>
            <a:ext cx="60960" cy="902375"/>
          </a:xfrm>
          <a:prstGeom prst="roundRect">
            <a:avLst>
              <a:gd fmla="val 100748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7"/>
          <p:cNvSpPr/>
          <p:nvPr/>
        </p:nvSpPr>
        <p:spPr>
          <a:xfrm>
            <a:off x="6205299" y="5341858"/>
            <a:ext cx="2064306" cy="258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00"/>
              <a:buFont typeface="Funnel Display"/>
              <a:buNone/>
            </a:pPr>
            <a:r>
              <a:rPr b="0" i="0" lang="en-US" sz="16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Human Oversight</a:t>
            </a:r>
            <a:endParaRPr b="0" i="0" sz="1600" u="none" cap="none" strike="noStrike"/>
          </a:p>
        </p:txBody>
      </p:sp>
      <p:sp>
        <p:nvSpPr>
          <p:cNvPr id="146" name="Google Shape;146;p17"/>
          <p:cNvSpPr/>
          <p:nvPr/>
        </p:nvSpPr>
        <p:spPr>
          <a:xfrm>
            <a:off x="6205299" y="5687497"/>
            <a:ext cx="7751921" cy="233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521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50"/>
              <a:buFont typeface="Funnel Sans"/>
              <a:buNone/>
            </a:pPr>
            <a:r>
              <a:rPr b="0" i="0" lang="en-US" sz="11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Mandatory human review and intervention for all critical decisions, ensuring accountability and ethical judgment.</a:t>
            </a:r>
            <a:endParaRPr b="0" i="0" sz="1150" u="none" cap="none" strike="noStrike"/>
          </a:p>
        </p:txBody>
      </p:sp>
      <p:sp>
        <p:nvSpPr>
          <p:cNvPr id="147" name="Google Shape;147;p17"/>
          <p:cNvSpPr/>
          <p:nvPr/>
        </p:nvSpPr>
        <p:spPr>
          <a:xfrm>
            <a:off x="5998131" y="6228993"/>
            <a:ext cx="8120539" cy="902375"/>
          </a:xfrm>
          <a:prstGeom prst="roundRect">
            <a:avLst>
              <a:gd fmla="val 8107" name="adj"/>
            </a:avLst>
          </a:prstGeom>
          <a:solidFill>
            <a:srgbClr val="FAF5EB"/>
          </a:solidFill>
          <a:ln cap="flat" cmpd="sng" w="152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7"/>
          <p:cNvSpPr/>
          <p:nvPr/>
        </p:nvSpPr>
        <p:spPr>
          <a:xfrm>
            <a:off x="5982891" y="6228993"/>
            <a:ext cx="60960" cy="902375"/>
          </a:xfrm>
          <a:prstGeom prst="roundRect">
            <a:avLst>
              <a:gd fmla="val 100748" name="adj"/>
            </a:avLst>
          </a:prstGeom>
          <a:solidFill>
            <a:srgbClr val="3371A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6205299" y="6390442"/>
            <a:ext cx="2266950" cy="2580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00"/>
              <a:buFont typeface="Funnel Display"/>
              <a:buNone/>
            </a:pPr>
            <a:r>
              <a:rPr b="0" i="0" lang="en-US" sz="16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Data Privacy &amp; Security</a:t>
            </a:r>
            <a:endParaRPr b="0" i="0" sz="1600" u="none" cap="none" strike="noStrike"/>
          </a:p>
        </p:txBody>
      </p:sp>
      <p:sp>
        <p:nvSpPr>
          <p:cNvPr id="150" name="Google Shape;150;p17"/>
          <p:cNvSpPr/>
          <p:nvPr/>
        </p:nvSpPr>
        <p:spPr>
          <a:xfrm>
            <a:off x="6205299" y="6736080"/>
            <a:ext cx="7751921" cy="233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6521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150"/>
              <a:buFont typeface="Funnel Sans"/>
              <a:buNone/>
            </a:pPr>
            <a:r>
              <a:rPr b="0" i="0" lang="en-US" sz="11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Adherence to the highest standards of data protection and regulatory compliance (e.g., GDPR, CCPA).</a:t>
            </a:r>
            <a:endParaRPr b="0" i="0" sz="1150" u="none" cap="none" strike="noStrike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"/>
          <p:cNvSpPr/>
          <p:nvPr/>
        </p:nvSpPr>
        <p:spPr>
          <a:xfrm>
            <a:off x="1069181" y="912376"/>
            <a:ext cx="2509361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315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900"/>
              <a:buFont typeface="Funnel Display"/>
              <a:buNone/>
            </a:pPr>
            <a:r>
              <a:rPr b="0" i="0" lang="en-US" sz="19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MEASURABLE VALUE</a:t>
            </a:r>
            <a:endParaRPr b="0" i="0" sz="1900" u="none" cap="none" strike="noStrike"/>
          </a:p>
        </p:txBody>
      </p:sp>
      <p:sp>
        <p:nvSpPr>
          <p:cNvPr id="157" name="Google Shape;157;p18"/>
          <p:cNvSpPr/>
          <p:nvPr/>
        </p:nvSpPr>
        <p:spPr>
          <a:xfrm>
            <a:off x="1069181" y="1304806"/>
            <a:ext cx="12492037" cy="12342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974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850"/>
              <a:buFont typeface="Funnel Display"/>
              <a:buNone/>
            </a:pPr>
            <a:r>
              <a:rPr b="0" i="0" lang="en-US" sz="38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Expected Business Impact: Driving Efficiency and Customer Loyalty</a:t>
            </a:r>
            <a:endParaRPr b="0" i="0" sz="3850" u="none" cap="none" strike="noStrike"/>
          </a:p>
        </p:txBody>
      </p:sp>
      <p:sp>
        <p:nvSpPr>
          <p:cNvPr id="158" name="Google Shape;158;p18"/>
          <p:cNvSpPr/>
          <p:nvPr/>
        </p:nvSpPr>
        <p:spPr>
          <a:xfrm>
            <a:off x="1069181" y="2853690"/>
            <a:ext cx="12492037" cy="335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50"/>
              <a:buFont typeface="Funnel Sans"/>
              <a:buNone/>
            </a:pPr>
            <a:r>
              <a:rPr b="0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Implementing this AI-powered system will yield significant benefits across our operations and customer relationships.</a:t>
            </a:r>
            <a:endParaRPr b="0" i="0" sz="1650" u="none" cap="none" strike="noStrike"/>
          </a:p>
        </p:txBody>
      </p:sp>
      <p:sp>
        <p:nvSpPr>
          <p:cNvPr id="159" name="Google Shape;159;p18"/>
          <p:cNvSpPr/>
          <p:nvPr/>
        </p:nvSpPr>
        <p:spPr>
          <a:xfrm>
            <a:off x="1069181" y="3635097"/>
            <a:ext cx="3950018" cy="493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93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100"/>
              <a:buFont typeface="Funnel Display"/>
              <a:buNone/>
            </a:pPr>
            <a:r>
              <a:rPr b="0" i="0" lang="en-US" sz="31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Business KPIs</a:t>
            </a:r>
            <a:endParaRPr b="0" i="0" sz="3100" u="none" cap="none" strike="noStrike"/>
          </a:p>
        </p:txBody>
      </p:sp>
      <p:sp>
        <p:nvSpPr>
          <p:cNvPr id="160" name="Google Shape;160;p18"/>
          <p:cNvSpPr/>
          <p:nvPr/>
        </p:nvSpPr>
        <p:spPr>
          <a:xfrm>
            <a:off x="1069181" y="4338638"/>
            <a:ext cx="5990034" cy="671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50"/>
              <a:buFont typeface="Funnel Sans"/>
              <a:buNone/>
            </a:pPr>
            <a:r>
              <a:rPr b="1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10-15% Reduction in Early-Stage Delinquency:</a:t>
            </a:r>
            <a:r>
              <a:rPr b="0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Proactive engagement mitigates risk before it escalates.</a:t>
            </a:r>
            <a:endParaRPr b="0" i="0" sz="1650" u="none" cap="none" strike="noStrike"/>
          </a:p>
        </p:txBody>
      </p:sp>
      <p:sp>
        <p:nvSpPr>
          <p:cNvPr id="161" name="Google Shape;161;p18"/>
          <p:cNvSpPr/>
          <p:nvPr/>
        </p:nvSpPr>
        <p:spPr>
          <a:xfrm>
            <a:off x="1069181" y="5083254"/>
            <a:ext cx="5990034" cy="671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50"/>
              <a:buFont typeface="Funnel Sans"/>
              <a:buNone/>
            </a:pPr>
            <a:r>
              <a:rPr b="1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Lower Collections Costs:</a:t>
            </a:r>
            <a:r>
              <a:rPr b="0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Automation of routine tasks reduces operational expenditure significantly.</a:t>
            </a:r>
            <a:endParaRPr b="0" i="0" sz="1650" u="none" cap="none" strike="noStrike"/>
          </a:p>
        </p:txBody>
      </p:sp>
      <p:sp>
        <p:nvSpPr>
          <p:cNvPr id="162" name="Google Shape;162;p18"/>
          <p:cNvSpPr/>
          <p:nvPr/>
        </p:nvSpPr>
        <p:spPr>
          <a:xfrm>
            <a:off x="1069181" y="5827871"/>
            <a:ext cx="5990034" cy="671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50"/>
              <a:buFont typeface="Funnel Sans"/>
              <a:buNone/>
            </a:pPr>
            <a:r>
              <a:rPr b="1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Improved Operational Efficiency:</a:t>
            </a:r>
            <a:r>
              <a:rPr b="0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Streamlined workflows and faster processing times.</a:t>
            </a:r>
            <a:endParaRPr b="0" i="0" sz="1650" u="none" cap="none" strike="noStrike"/>
          </a:p>
        </p:txBody>
      </p:sp>
      <p:sp>
        <p:nvSpPr>
          <p:cNvPr id="163" name="Google Shape;163;p18"/>
          <p:cNvSpPr/>
          <p:nvPr/>
        </p:nvSpPr>
        <p:spPr>
          <a:xfrm>
            <a:off x="1069181" y="6572488"/>
            <a:ext cx="5990034" cy="671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50"/>
              <a:buFont typeface="Funnel Sans"/>
              <a:buNone/>
            </a:pPr>
            <a:r>
              <a:rPr b="1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Enhanced Scalability:</a:t>
            </a:r>
            <a:r>
              <a:rPr b="0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Ability to manage growing portfolios without proportional increase in resources.</a:t>
            </a:r>
            <a:endParaRPr b="0" i="0" sz="1650" u="none" cap="none" strike="noStrike"/>
          </a:p>
        </p:txBody>
      </p:sp>
      <p:sp>
        <p:nvSpPr>
          <p:cNvPr id="164" name="Google Shape;164;p18"/>
          <p:cNvSpPr/>
          <p:nvPr/>
        </p:nvSpPr>
        <p:spPr>
          <a:xfrm>
            <a:off x="7578804" y="3635097"/>
            <a:ext cx="3950018" cy="493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93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100"/>
              <a:buFont typeface="Funnel Display"/>
              <a:buNone/>
            </a:pPr>
            <a:r>
              <a:rPr b="0" i="0" lang="en-US" sz="31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Customer Outcomes</a:t>
            </a:r>
            <a:endParaRPr b="0" i="0" sz="3100" u="none" cap="none" strike="noStrike"/>
          </a:p>
        </p:txBody>
      </p:sp>
      <p:sp>
        <p:nvSpPr>
          <p:cNvPr id="165" name="Google Shape;165;p18"/>
          <p:cNvSpPr/>
          <p:nvPr/>
        </p:nvSpPr>
        <p:spPr>
          <a:xfrm>
            <a:off x="7578804" y="4338638"/>
            <a:ext cx="5990034" cy="671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50"/>
              <a:buFont typeface="Funnel Sans"/>
              <a:buNone/>
            </a:pPr>
            <a:r>
              <a:rPr b="1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Better Customer Experience:</a:t>
            </a:r>
            <a:r>
              <a:rPr b="0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Proactive, empathetic outreach prevents stress and builds goodwill.</a:t>
            </a:r>
            <a:endParaRPr b="0" i="0" sz="1650" u="none" cap="none" strike="noStrike"/>
          </a:p>
        </p:txBody>
      </p:sp>
      <p:sp>
        <p:nvSpPr>
          <p:cNvPr id="166" name="Google Shape;166;p18"/>
          <p:cNvSpPr/>
          <p:nvPr/>
        </p:nvSpPr>
        <p:spPr>
          <a:xfrm>
            <a:off x="7578804" y="5083254"/>
            <a:ext cx="5990034" cy="671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50"/>
              <a:buFont typeface="Funnel Sans"/>
              <a:buNone/>
            </a:pPr>
            <a:r>
              <a:rPr b="1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Increased Transparency &amp; Trust:</a:t>
            </a:r>
            <a:r>
              <a:rPr b="0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Clear communication about actions and options fosters confidence.</a:t>
            </a:r>
            <a:endParaRPr b="0" i="0" sz="1650" u="none" cap="none" strike="noStrike"/>
          </a:p>
        </p:txBody>
      </p:sp>
      <p:sp>
        <p:nvSpPr>
          <p:cNvPr id="167" name="Google Shape;167;p18"/>
          <p:cNvSpPr/>
          <p:nvPr/>
        </p:nvSpPr>
        <p:spPr>
          <a:xfrm>
            <a:off x="7578804" y="5827871"/>
            <a:ext cx="5990034" cy="671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50"/>
              <a:buFont typeface="Funnel Sans"/>
              <a:buNone/>
            </a:pPr>
            <a:r>
              <a:rPr b="1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Fairer &amp; More Consistent Treatment:</a:t>
            </a:r>
            <a:r>
              <a:rPr b="0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Standardized processes reduce human error and bias.</a:t>
            </a:r>
            <a:endParaRPr b="0" i="0" sz="1650" u="none" cap="none" strike="noStrike"/>
          </a:p>
        </p:txBody>
      </p:sp>
      <p:sp>
        <p:nvSpPr>
          <p:cNvPr id="168" name="Google Shape;168;p18"/>
          <p:cNvSpPr/>
          <p:nvPr/>
        </p:nvSpPr>
        <p:spPr>
          <a:xfrm>
            <a:off x="7578804" y="6572488"/>
            <a:ext cx="5990034" cy="6712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575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650"/>
              <a:buFont typeface="Funnel Sans"/>
              <a:buNone/>
            </a:pPr>
            <a:r>
              <a:rPr b="1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Empowered Financial Management:</a:t>
            </a:r>
            <a:r>
              <a:rPr b="0" i="0" lang="en-US" sz="16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 Customers receive timely support to manage their obligations effectively.</a:t>
            </a:r>
            <a:endParaRPr b="0" i="0" sz="1650" u="none" cap="none" strike="noStrike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74" name="Google Shape;17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/>
          <p:nvPr/>
        </p:nvSpPr>
        <p:spPr>
          <a:xfrm>
            <a:off x="837724" y="1915239"/>
            <a:ext cx="3281482" cy="3519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2200"/>
              <a:buFont typeface="Funnel Display"/>
              <a:buNone/>
            </a:pPr>
            <a:r>
              <a:rPr b="0" i="0" lang="en-US" sz="22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CUSTOMER CENTRICITY</a:t>
            </a:r>
            <a:endParaRPr b="0" i="0" sz="2200" u="none" cap="none" strike="noStrike"/>
          </a:p>
        </p:txBody>
      </p:sp>
      <p:sp>
        <p:nvSpPr>
          <p:cNvPr id="176" name="Google Shape;176;p19"/>
          <p:cNvSpPr/>
          <p:nvPr/>
        </p:nvSpPr>
        <p:spPr>
          <a:xfrm>
            <a:off x="837724" y="2362914"/>
            <a:ext cx="7468553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Reimagining the Customer Journey in Collections</a:t>
            </a:r>
            <a:endParaRPr b="0" i="0" sz="4400" u="none" cap="none" strike="noStrike"/>
          </a:p>
        </p:txBody>
      </p:sp>
      <p:sp>
        <p:nvSpPr>
          <p:cNvPr id="177" name="Google Shape;177;p19"/>
          <p:cNvSpPr/>
          <p:nvPr/>
        </p:nvSpPr>
        <p:spPr>
          <a:xfrm>
            <a:off x="837724" y="4129921"/>
            <a:ext cx="7468553" cy="114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Beyond numbers, our AI system focuses on transforming challenging moments into opportunities for positive customer engagement and long-term loyalty.</a:t>
            </a:r>
            <a:endParaRPr b="0" i="0" sz="1850" u="none" cap="none" strike="noStrike"/>
          </a:p>
        </p:txBody>
      </p:sp>
      <p:sp>
        <p:nvSpPr>
          <p:cNvPr id="178" name="Google Shape;178;p19"/>
          <p:cNvSpPr/>
          <p:nvPr/>
        </p:nvSpPr>
        <p:spPr>
          <a:xfrm>
            <a:off x="837724" y="5548193"/>
            <a:ext cx="7468553" cy="7660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By offering personalized solutions and proactive communication, we aim to reduce financial stress and empower our customers.</a:t>
            </a:r>
            <a:endParaRPr b="0" i="0" sz="1850" u="none" cap="none" strike="noStrike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84" name="Google Shape;18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2402681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/>
          <p:nvPr/>
        </p:nvSpPr>
        <p:spPr>
          <a:xfrm>
            <a:off x="1593890" y="3086933"/>
            <a:ext cx="2612350" cy="282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750"/>
              <a:buFont typeface="Funnel Display"/>
              <a:buNone/>
            </a:pPr>
            <a:r>
              <a:rPr b="0" i="0" lang="en-US" sz="17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STRATEGIC ADVANTAGE</a:t>
            </a:r>
            <a:endParaRPr b="0" i="0" sz="1750" u="none" cap="none" strike="noStrike"/>
          </a:p>
        </p:txBody>
      </p:sp>
      <p:sp>
        <p:nvSpPr>
          <p:cNvPr id="186" name="Google Shape;186;p20"/>
          <p:cNvSpPr/>
          <p:nvPr/>
        </p:nvSpPr>
        <p:spPr>
          <a:xfrm>
            <a:off x="1593890" y="3446264"/>
            <a:ext cx="8544282" cy="56530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52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550"/>
              <a:buFont typeface="Funnel Display"/>
              <a:buNone/>
            </a:pPr>
            <a:r>
              <a:rPr b="0" i="0" lang="en-US" sz="35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Geldium's Path to Innovation Leadership</a:t>
            </a:r>
            <a:endParaRPr b="0" i="0" sz="3550" u="none" cap="none" strike="noStrike"/>
          </a:p>
        </p:txBody>
      </p:sp>
      <p:sp>
        <p:nvSpPr>
          <p:cNvPr id="187" name="Google Shape;187;p20"/>
          <p:cNvSpPr/>
          <p:nvPr/>
        </p:nvSpPr>
        <p:spPr>
          <a:xfrm>
            <a:off x="1593890" y="4299823"/>
            <a:ext cx="11442502" cy="614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500"/>
              <a:buFont typeface="Funnel Sans"/>
              <a:buNone/>
            </a:pPr>
            <a:r>
              <a:rPr b="0" i="0" lang="en-US" sz="15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Embracing AI in collections is not just about efficiency; it's about cementing Geldium's position as a forward-thinking leader in financial services.</a:t>
            </a:r>
            <a:endParaRPr b="0" i="0" sz="1500" u="none" cap="none" strike="noStrike"/>
          </a:p>
        </p:txBody>
      </p:sp>
      <p:pic>
        <p:nvPicPr>
          <p:cNvPr descr="preencoded.png"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93890" y="5130879"/>
            <a:ext cx="3814167" cy="768787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0"/>
          <p:cNvSpPr/>
          <p:nvPr/>
        </p:nvSpPr>
        <p:spPr>
          <a:xfrm>
            <a:off x="1786057" y="6091833"/>
            <a:ext cx="2940487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100"/>
              <a:buFont typeface="Funnel Display"/>
              <a:buNone/>
            </a:pPr>
            <a:r>
              <a:rPr b="0" i="0" lang="en-US" sz="21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Pioneering Technology</a:t>
            </a:r>
            <a:endParaRPr b="0" i="0" sz="2100" u="none" cap="none" strike="noStrike"/>
          </a:p>
        </p:txBody>
      </p:sp>
      <p:sp>
        <p:nvSpPr>
          <p:cNvPr id="190" name="Google Shape;190;p20"/>
          <p:cNvSpPr/>
          <p:nvPr/>
        </p:nvSpPr>
        <p:spPr>
          <a:xfrm>
            <a:off x="1786057" y="6546175"/>
            <a:ext cx="3429833" cy="614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500"/>
              <a:buFont typeface="Funnel Sans"/>
              <a:buNone/>
            </a:pPr>
            <a:r>
              <a:rPr b="0" i="0" lang="en-US" sz="15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Leading the industry in responsible AI adoption.</a:t>
            </a:r>
            <a:endParaRPr b="0" i="0" sz="1500" u="none" cap="none" strike="noStrike"/>
          </a:p>
        </p:txBody>
      </p:sp>
      <p:pic>
        <p:nvPicPr>
          <p:cNvPr descr="preencoded.png" id="191" name="Google Shape;191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08057" y="5130879"/>
            <a:ext cx="3814167" cy="768787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/>
          <p:nvPr/>
        </p:nvSpPr>
        <p:spPr>
          <a:xfrm>
            <a:off x="5600224" y="6091833"/>
            <a:ext cx="2713553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100"/>
              <a:buFont typeface="Funnel Display"/>
              <a:buNone/>
            </a:pPr>
            <a:r>
              <a:rPr b="0" i="0" lang="en-US" sz="21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Sustainable Growth</a:t>
            </a:r>
            <a:endParaRPr b="0" i="0" sz="2100" u="none" cap="none" strike="noStrike"/>
          </a:p>
        </p:txBody>
      </p:sp>
      <p:sp>
        <p:nvSpPr>
          <p:cNvPr id="193" name="Google Shape;193;p20"/>
          <p:cNvSpPr/>
          <p:nvPr/>
        </p:nvSpPr>
        <p:spPr>
          <a:xfrm>
            <a:off x="5600224" y="6546175"/>
            <a:ext cx="3429833" cy="614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500"/>
              <a:buFont typeface="Funnel Sans"/>
              <a:buNone/>
            </a:pPr>
            <a:r>
              <a:rPr b="0" i="0" lang="en-US" sz="15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Driving profitability through reduced losses and improved retention.</a:t>
            </a:r>
            <a:endParaRPr b="0" i="0" sz="1500" u="none" cap="none" strike="noStrike"/>
          </a:p>
        </p:txBody>
      </p:sp>
      <p:pic>
        <p:nvPicPr>
          <p:cNvPr descr="preencoded.png" id="194" name="Google Shape;19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222224" y="5130879"/>
            <a:ext cx="3814167" cy="768787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0"/>
          <p:cNvSpPr/>
          <p:nvPr/>
        </p:nvSpPr>
        <p:spPr>
          <a:xfrm>
            <a:off x="9414391" y="6091833"/>
            <a:ext cx="2778681" cy="33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2100"/>
              <a:buFont typeface="Funnel Display"/>
              <a:buNone/>
            </a:pPr>
            <a:r>
              <a:rPr b="0" i="0" lang="en-US" sz="21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Enhanced Reputation</a:t>
            </a:r>
            <a:endParaRPr b="0" i="0" sz="2100" u="none" cap="none" strike="noStrike"/>
          </a:p>
        </p:txBody>
      </p:sp>
      <p:sp>
        <p:nvSpPr>
          <p:cNvPr id="196" name="Google Shape;196;p20"/>
          <p:cNvSpPr/>
          <p:nvPr/>
        </p:nvSpPr>
        <p:spPr>
          <a:xfrm>
            <a:off x="9414391" y="6546175"/>
            <a:ext cx="3429833" cy="614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500"/>
              <a:buFont typeface="Funnel Sans"/>
              <a:buNone/>
            </a:pPr>
            <a:r>
              <a:rPr b="0" i="0" lang="en-US" sz="15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Building trust through transparent and fair practices.</a:t>
            </a:r>
            <a:endParaRPr b="0" i="0" sz="1500" u="none" cap="none" strike="noStrike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2" name="Google Shape;202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1"/>
          <p:cNvSpPr/>
          <p:nvPr/>
        </p:nvSpPr>
        <p:spPr>
          <a:xfrm>
            <a:off x="599242" y="1269563"/>
            <a:ext cx="2842855" cy="2518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1550"/>
              <a:buFont typeface="Funnel Display"/>
              <a:buNone/>
            </a:pPr>
            <a:r>
              <a:rPr b="0" i="0" lang="en-US" sz="15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IMPLEMENTATION ROADMAP</a:t>
            </a:r>
            <a:endParaRPr b="0" i="0" sz="1550" u="none" cap="none" strike="noStrike"/>
          </a:p>
        </p:txBody>
      </p:sp>
      <p:sp>
        <p:nvSpPr>
          <p:cNvPr id="204" name="Google Shape;204;p21"/>
          <p:cNvSpPr/>
          <p:nvPr/>
        </p:nvSpPr>
        <p:spPr>
          <a:xfrm>
            <a:off x="599242" y="1589842"/>
            <a:ext cx="6452711" cy="5036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96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3150"/>
              <a:buFont typeface="Funnel Display"/>
              <a:buNone/>
            </a:pPr>
            <a:r>
              <a:rPr b="0" i="0" lang="en-US" sz="315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Key Milestones for System Rollout</a:t>
            </a:r>
            <a:endParaRPr b="0" i="0" sz="3150" u="none" cap="none" strike="noStrike"/>
          </a:p>
        </p:txBody>
      </p:sp>
      <p:sp>
        <p:nvSpPr>
          <p:cNvPr id="205" name="Google Shape;205;p21"/>
          <p:cNvSpPr/>
          <p:nvPr/>
        </p:nvSpPr>
        <p:spPr>
          <a:xfrm>
            <a:off x="599242" y="2350294"/>
            <a:ext cx="7945517" cy="5476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384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300"/>
              <a:buFont typeface="Funnel Sans"/>
              <a:buNone/>
            </a:pPr>
            <a:r>
              <a:rPr b="0" i="0" lang="en-US" sz="13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 phased approach ensures seamless integration and continuous optimization, minimizing disruption while maximizing impact.</a:t>
            </a:r>
            <a:endParaRPr b="0" i="0" sz="1300" u="none" cap="none" strike="noStrike"/>
          </a:p>
        </p:txBody>
      </p:sp>
      <p:sp>
        <p:nvSpPr>
          <p:cNvPr id="206" name="Google Shape;206;p21"/>
          <p:cNvSpPr/>
          <p:nvPr/>
        </p:nvSpPr>
        <p:spPr>
          <a:xfrm>
            <a:off x="791766" y="3090505"/>
            <a:ext cx="22860" cy="3869531"/>
          </a:xfrm>
          <a:prstGeom prst="roundRect">
            <a:avLst>
              <a:gd fmla="val 314564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1"/>
          <p:cNvSpPr/>
          <p:nvPr/>
        </p:nvSpPr>
        <p:spPr>
          <a:xfrm>
            <a:off x="961489" y="3271599"/>
            <a:ext cx="513636" cy="22860"/>
          </a:xfrm>
          <a:prstGeom prst="roundRect">
            <a:avLst>
              <a:gd fmla="val 314564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99182" y="3090505"/>
            <a:ext cx="385167" cy="385167"/>
          </a:xfrm>
          <a:prstGeom prst="roundRect">
            <a:avLst>
              <a:gd fmla="val 18670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670858" y="3131999"/>
            <a:ext cx="241697" cy="30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900"/>
              <a:buFont typeface="Funnel Display"/>
              <a:buNone/>
            </a:pPr>
            <a:r>
              <a:rPr b="0" i="0" lang="en-US" sz="1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1</a:t>
            </a:r>
            <a:endParaRPr b="0" i="0" sz="1900" u="none" cap="none" strike="noStrike"/>
          </a:p>
        </p:txBody>
      </p:sp>
      <p:sp>
        <p:nvSpPr>
          <p:cNvPr id="210" name="Google Shape;210;p21"/>
          <p:cNvSpPr/>
          <p:nvPr/>
        </p:nvSpPr>
        <p:spPr>
          <a:xfrm>
            <a:off x="1647825" y="3122533"/>
            <a:ext cx="2920960" cy="30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900"/>
              <a:buFont typeface="Funnel Display"/>
              <a:buNone/>
            </a:pPr>
            <a:r>
              <a:rPr b="0" i="0" lang="en-US" sz="1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Q1: Pilot Program Launch</a:t>
            </a:r>
            <a:endParaRPr b="0" i="0" sz="1900" u="none" cap="none" strike="noStrike"/>
          </a:p>
        </p:txBody>
      </p:sp>
      <p:sp>
        <p:nvSpPr>
          <p:cNvPr id="211" name="Google Shape;211;p21"/>
          <p:cNvSpPr/>
          <p:nvPr/>
        </p:nvSpPr>
        <p:spPr>
          <a:xfrm>
            <a:off x="1647825" y="3527227"/>
            <a:ext cx="689693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384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300"/>
              <a:buFont typeface="Funnel Sans"/>
              <a:buNone/>
            </a:pPr>
            <a:r>
              <a:rPr b="0" i="0" lang="en-US" sz="13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Deploy limited-scope pilot; gather initial data and feedback.</a:t>
            </a:r>
            <a:endParaRPr b="0" i="0" sz="1300" u="none" cap="none" strike="noStrike"/>
          </a:p>
        </p:txBody>
      </p:sp>
      <p:sp>
        <p:nvSpPr>
          <p:cNvPr id="212" name="Google Shape;212;p21"/>
          <p:cNvSpPr/>
          <p:nvPr/>
        </p:nvSpPr>
        <p:spPr>
          <a:xfrm>
            <a:off x="961489" y="4324588"/>
            <a:ext cx="513636" cy="22860"/>
          </a:xfrm>
          <a:prstGeom prst="roundRect">
            <a:avLst>
              <a:gd fmla="val 314564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599182" y="4143494"/>
            <a:ext cx="385167" cy="385167"/>
          </a:xfrm>
          <a:prstGeom prst="roundRect">
            <a:avLst>
              <a:gd fmla="val 18670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670858" y="4184987"/>
            <a:ext cx="241697" cy="30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900"/>
              <a:buFont typeface="Funnel Display"/>
              <a:buNone/>
            </a:pPr>
            <a:r>
              <a:rPr b="0" i="0" lang="en-US" sz="1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2</a:t>
            </a:r>
            <a:endParaRPr b="0" i="0" sz="1900" u="none" cap="none" strike="noStrike"/>
          </a:p>
        </p:txBody>
      </p:sp>
      <p:sp>
        <p:nvSpPr>
          <p:cNvPr id="215" name="Google Shape;215;p21"/>
          <p:cNvSpPr/>
          <p:nvPr/>
        </p:nvSpPr>
        <p:spPr>
          <a:xfrm>
            <a:off x="1647825" y="4175522"/>
            <a:ext cx="2558415" cy="30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900"/>
              <a:buFont typeface="Funnel Display"/>
              <a:buNone/>
            </a:pPr>
            <a:r>
              <a:rPr b="0" i="0" lang="en-US" sz="1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Q2: Model Refinement</a:t>
            </a:r>
            <a:endParaRPr b="0" i="0" sz="1900" u="none" cap="none" strike="noStrike"/>
          </a:p>
        </p:txBody>
      </p:sp>
      <p:sp>
        <p:nvSpPr>
          <p:cNvPr id="216" name="Google Shape;216;p21"/>
          <p:cNvSpPr/>
          <p:nvPr/>
        </p:nvSpPr>
        <p:spPr>
          <a:xfrm>
            <a:off x="1647825" y="4580215"/>
            <a:ext cx="689693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384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300"/>
              <a:buFont typeface="Funnel Sans"/>
              <a:buNone/>
            </a:pPr>
            <a:r>
              <a:rPr b="0" i="0" lang="en-US" sz="13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Analyze pilot results, fine-tune AI models and decision logic.</a:t>
            </a:r>
            <a:endParaRPr b="0" i="0" sz="1300" u="none" cap="none" strike="noStrike"/>
          </a:p>
        </p:txBody>
      </p:sp>
      <p:sp>
        <p:nvSpPr>
          <p:cNvPr id="217" name="Google Shape;217;p21"/>
          <p:cNvSpPr/>
          <p:nvPr/>
        </p:nvSpPr>
        <p:spPr>
          <a:xfrm>
            <a:off x="961489" y="5377577"/>
            <a:ext cx="513636" cy="22860"/>
          </a:xfrm>
          <a:prstGeom prst="roundRect">
            <a:avLst>
              <a:gd fmla="val 314564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21"/>
          <p:cNvSpPr/>
          <p:nvPr/>
        </p:nvSpPr>
        <p:spPr>
          <a:xfrm>
            <a:off x="599182" y="5196483"/>
            <a:ext cx="385167" cy="385167"/>
          </a:xfrm>
          <a:prstGeom prst="roundRect">
            <a:avLst>
              <a:gd fmla="val 18670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1"/>
          <p:cNvSpPr/>
          <p:nvPr/>
        </p:nvSpPr>
        <p:spPr>
          <a:xfrm>
            <a:off x="670858" y="5237976"/>
            <a:ext cx="241697" cy="30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900"/>
              <a:buFont typeface="Funnel Display"/>
              <a:buNone/>
            </a:pPr>
            <a:r>
              <a:rPr b="0" i="0" lang="en-US" sz="1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3</a:t>
            </a:r>
            <a:endParaRPr b="0" i="0" sz="1900" u="none" cap="none" strike="noStrike"/>
          </a:p>
        </p:txBody>
      </p:sp>
      <p:sp>
        <p:nvSpPr>
          <p:cNvPr id="220" name="Google Shape;220;p21"/>
          <p:cNvSpPr/>
          <p:nvPr/>
        </p:nvSpPr>
        <p:spPr>
          <a:xfrm>
            <a:off x="1647825" y="5228511"/>
            <a:ext cx="2417088" cy="30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900"/>
              <a:buFont typeface="Funnel Display"/>
              <a:buNone/>
            </a:pPr>
            <a:r>
              <a:rPr b="0" i="0" lang="en-US" sz="1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Q3: Phased Rollout</a:t>
            </a:r>
            <a:endParaRPr b="0" i="0" sz="1900" u="none" cap="none" strike="noStrike"/>
          </a:p>
        </p:txBody>
      </p:sp>
      <p:sp>
        <p:nvSpPr>
          <p:cNvPr id="221" name="Google Shape;221;p21"/>
          <p:cNvSpPr/>
          <p:nvPr/>
        </p:nvSpPr>
        <p:spPr>
          <a:xfrm>
            <a:off x="1647825" y="5633204"/>
            <a:ext cx="689693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384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300"/>
              <a:buFont typeface="Funnel Sans"/>
              <a:buNone/>
            </a:pPr>
            <a:r>
              <a:rPr b="0" i="0" lang="en-US" sz="13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Expand system to additional customer segments; scale operations.</a:t>
            </a:r>
            <a:endParaRPr b="0" i="0" sz="1300" u="none" cap="none" strike="noStrike"/>
          </a:p>
        </p:txBody>
      </p:sp>
      <p:sp>
        <p:nvSpPr>
          <p:cNvPr id="222" name="Google Shape;222;p21"/>
          <p:cNvSpPr/>
          <p:nvPr/>
        </p:nvSpPr>
        <p:spPr>
          <a:xfrm>
            <a:off x="961489" y="6430566"/>
            <a:ext cx="513636" cy="22860"/>
          </a:xfrm>
          <a:prstGeom prst="roundRect">
            <a:avLst>
              <a:gd fmla="val 314564" name="adj"/>
            </a:avLst>
          </a:prstGeom>
          <a:solidFill>
            <a:srgbClr val="D5CDB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1"/>
          <p:cNvSpPr/>
          <p:nvPr/>
        </p:nvSpPr>
        <p:spPr>
          <a:xfrm>
            <a:off x="599182" y="6249472"/>
            <a:ext cx="385167" cy="385167"/>
          </a:xfrm>
          <a:prstGeom prst="roundRect">
            <a:avLst>
              <a:gd fmla="val 18670" name="adj"/>
            </a:avLst>
          </a:prstGeom>
          <a:solidFill>
            <a:srgbClr val="FAF5EB"/>
          </a:solidFill>
          <a:ln cap="flat" cmpd="sng" w="9525">
            <a:solidFill>
              <a:srgbClr val="D5CDB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21"/>
          <p:cNvSpPr/>
          <p:nvPr/>
        </p:nvSpPr>
        <p:spPr>
          <a:xfrm>
            <a:off x="670858" y="6290965"/>
            <a:ext cx="241697" cy="30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900"/>
              <a:buFont typeface="Funnel Display"/>
              <a:buNone/>
            </a:pPr>
            <a:r>
              <a:rPr b="0" i="0" lang="en-US" sz="1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4</a:t>
            </a:r>
            <a:endParaRPr b="0" i="0" sz="1900" u="none" cap="none" strike="noStrike"/>
          </a:p>
        </p:txBody>
      </p:sp>
      <p:sp>
        <p:nvSpPr>
          <p:cNvPr id="225" name="Google Shape;225;p21"/>
          <p:cNvSpPr/>
          <p:nvPr/>
        </p:nvSpPr>
        <p:spPr>
          <a:xfrm>
            <a:off x="1647825" y="6281499"/>
            <a:ext cx="3074075" cy="302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684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900"/>
              <a:buFont typeface="Funnel Display"/>
              <a:buNone/>
            </a:pPr>
            <a:r>
              <a:rPr b="0" i="0" lang="en-US" sz="1900" u="none" cap="none" strike="noStrike">
                <a:solidFill>
                  <a:srgbClr val="2B3541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Q4: Full Integration &amp; Audit</a:t>
            </a:r>
            <a:endParaRPr b="0" i="0" sz="1900" u="none" cap="none" strike="noStrike"/>
          </a:p>
        </p:txBody>
      </p:sp>
      <p:sp>
        <p:nvSpPr>
          <p:cNvPr id="226" name="Google Shape;226;p21"/>
          <p:cNvSpPr/>
          <p:nvPr/>
        </p:nvSpPr>
        <p:spPr>
          <a:xfrm>
            <a:off x="1647825" y="6686193"/>
            <a:ext cx="6896933" cy="2738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384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300"/>
              <a:buFont typeface="Funnel Sans"/>
              <a:buNone/>
            </a:pPr>
            <a:r>
              <a:rPr b="0" i="0" lang="en-US" sz="130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Complete system integration; conduct comprehensive fairness and performance audits.</a:t>
            </a:r>
            <a:endParaRPr b="0" i="0" sz="1300" u="none" cap="none" strike="noStrike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32" name="Google Shape;232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/>
          <p:nvPr/>
        </p:nvSpPr>
        <p:spPr>
          <a:xfrm>
            <a:off x="6324124" y="1675328"/>
            <a:ext cx="7468553" cy="14080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51D3A"/>
              </a:buClr>
              <a:buSzPts val="4400"/>
              <a:buFont typeface="Funnel Display"/>
              <a:buNone/>
            </a:pPr>
            <a:r>
              <a:rPr b="0" i="0" lang="en-US" sz="4400" u="none" cap="none" strike="noStrike">
                <a:solidFill>
                  <a:srgbClr val="051D3A"/>
                </a:solidFill>
                <a:latin typeface="Funnel Display"/>
                <a:ea typeface="Funnel Display"/>
                <a:cs typeface="Funnel Display"/>
                <a:sym typeface="Funnel Display"/>
              </a:rPr>
              <a:t>The Future of Collections is Now</a:t>
            </a:r>
            <a:endParaRPr b="0" i="0" sz="4400" u="none" cap="none" strike="noStrike"/>
          </a:p>
        </p:txBody>
      </p:sp>
      <p:sp>
        <p:nvSpPr>
          <p:cNvPr id="234" name="Google Shape;234;p22"/>
          <p:cNvSpPr/>
          <p:nvPr/>
        </p:nvSpPr>
        <p:spPr>
          <a:xfrm>
            <a:off x="6324124" y="3442335"/>
            <a:ext cx="7468553" cy="15320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0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Geldium's AI-powered collections system represents a strategic investment in our future, promising not only financial benefits but also a more ethical and customer-centric approach to delinquency management.</a:t>
            </a:r>
            <a:endParaRPr b="0" i="0" sz="1850" u="none" cap="none" strike="noStrike"/>
          </a:p>
        </p:txBody>
      </p:sp>
      <p:sp>
        <p:nvSpPr>
          <p:cNvPr id="235" name="Google Shape;235;p22"/>
          <p:cNvSpPr/>
          <p:nvPr/>
        </p:nvSpPr>
        <p:spPr>
          <a:xfrm>
            <a:off x="6324124" y="5243632"/>
            <a:ext cx="7468553" cy="38302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162"/>
              </a:lnSpc>
              <a:spcBef>
                <a:spcPts val="0"/>
              </a:spcBef>
              <a:spcAft>
                <a:spcPts val="0"/>
              </a:spcAft>
              <a:buClr>
                <a:srgbClr val="2B3541"/>
              </a:buClr>
              <a:buSzPts val="1850"/>
              <a:buFont typeface="Funnel Sans"/>
              <a:buNone/>
            </a:pPr>
            <a:r>
              <a:rPr b="1" i="0" lang="en-US" sz="1850" u="none" cap="none" strike="noStrike">
                <a:solidFill>
                  <a:srgbClr val="2B3541"/>
                </a:solidFill>
                <a:latin typeface="Funnel Sans"/>
                <a:ea typeface="Funnel Sans"/>
                <a:cs typeface="Funnel Sans"/>
                <a:sym typeface="Funnel Sans"/>
              </a:rPr>
              <a:t>Join us in shaping a smarter, fairer financial landscape.</a:t>
            </a:r>
            <a:endParaRPr b="0" i="0" sz="1850" u="none" cap="none" strike="noStrike"/>
          </a:p>
        </p:txBody>
      </p:sp>
      <p:pic>
        <p:nvPicPr>
          <p:cNvPr descr="preencoded.png" id="236" name="Google Shape;236;p22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24124" y="5895856"/>
            <a:ext cx="1672828" cy="6582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237" name="Google Shape;237;p22">
            <a:hlinkClick r:id="rId6"/>
          </p:cNvPr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116610" y="5895856"/>
            <a:ext cx="2713315" cy="658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